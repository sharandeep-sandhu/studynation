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Detecting Soil pH Using Sentinel-2 Imagery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Remote Sensing-Based Approach for Agricultural Decision Making</a:t>
            </a:r>
          </a:p>
          <a:p>
            <a:r>
              <a:t>Location: Shelu Bazar, Akola, Maharashtra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Importance of Soil pH in Agriculture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3C3C3C"/>
                </a:solidFill>
              </a:defRPr>
            </a:pPr>
            <a:r>
              <a:t>Determines nutrient availability and microbial activity.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t>Affects crop selection and productivity.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t>Traditional soil testing is time-consuming and localized.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Sentinel-2 Satellite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3C3C3C"/>
                </a:solidFill>
              </a:defRPr>
            </a:pPr>
            <a:r>
              <a:t>Part of ESA's Copernicus Program.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t>Equipped with 13 multispectral bands (visible, NIR, SWIR).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t>Useful for vegetation monitoring, soil mapping, and water stress detection.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Detecting Soil pH from Sentinel-2 Imagery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3C3C3C"/>
                </a:solidFill>
              </a:defRPr>
            </a:pPr>
            <a:r>
              <a:t>Indirect pH estimation via spectral indices: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t>• Barren Soil Index (BSI): Indicates exposed, potentially alkaline soil.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t>• Moisture Stress Index (MSI): High stress often implies alkaline conditions.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t>Combining indices helps infer pH-related zones.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Barren Soil Index (BSI) and 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3C3C3C"/>
                </a:solidFill>
              </a:defRPr>
            </a:pPr>
            <a:r>
              <a:t>BSI = [(SWIR + Red) – (NIR + Blue)] / [(SWIR + Red) + (NIR + Blue)]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t>Highlights dry, barren, or degraded land.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t>Areas with high BSI may indicate alkaline soil (high pH).</a:t>
            </a:r>
          </a:p>
        </p:txBody>
      </p:sp>
      <p:pic>
        <p:nvPicPr>
          <p:cNvPr id="4" name="Picture 3" descr="temp_imag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2004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Moisture Stress Index (MSI) and 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3C3C3C"/>
                </a:solidFill>
              </a:defRPr>
            </a:pPr>
            <a:r>
              <a:t>MSI = SWIR / NIR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t>High MSI values indicate moisture-stressed regions.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t>Moisture-stressed soils are often alkaline due to salt accumulation.</a:t>
            </a:r>
          </a:p>
        </p:txBody>
      </p:sp>
      <p:pic>
        <p:nvPicPr>
          <p:cNvPr id="4" name="Picture 3" descr="temp_imag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2004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Visual Interpretation of BSI &amp; MSI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3C3C3C"/>
                </a:solidFill>
              </a:defRPr>
            </a:pPr>
            <a:r>
              <a:t>Red/yellow zones in MSI → moisture stress → likely alkaline.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t>White/blue zones → low stress → neutral pH.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t>BSI highlights exposed soil areas with possible high pH.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Applications in Precision Farming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3C3C3C"/>
                </a:solidFill>
              </a:defRPr>
            </a:pPr>
            <a:r>
              <a:t>Map soil pH zones remotely for large areas.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t>Recommend pH-tolerant crops for specific zones.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t>Reduce fertilizer misuse and improve yield.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3C3C3C"/>
                </a:solidFill>
              </a:defRPr>
            </a:pPr>
            <a:r>
              <a:t>Sentinel-2 enables scalable, efficient soil health assessment.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t>BSI and MSI provide indirect but effective pH estimation.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t>Empowers farmers with actionable, geospatial insights.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