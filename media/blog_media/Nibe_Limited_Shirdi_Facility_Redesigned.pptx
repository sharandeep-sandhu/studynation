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mg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12280" y="0"/>
            <a:ext cx="91440" cy="6858000"/>
          </a:xfrm>
          <a:prstGeom prst="rect">
            <a:avLst/>
          </a:prstGeom>
          <a:solidFill>
            <a:srgbClr val="F2A71B"/>
          </a:solidFill>
          <a:ln/>
        </p:spPr>
      </p:sp>
      <p:pic>
        <p:nvPicPr>
          <p:cNvPr id="4" name="Image 1" descr="/home/claude/work/img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777240" cy="7927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4480" y="594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55448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SHIRDI FACILITY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40080" y="233172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 Test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</a:t>
            </a:r>
            <a:endParaRPr lang="en-US" sz="4600" dirty="0"/>
          </a:p>
        </p:txBody>
      </p:sp>
      <p:sp>
        <p:nvSpPr>
          <p:cNvPr id="8" name="Shape 4"/>
          <p:cNvSpPr/>
          <p:nvPr/>
        </p:nvSpPr>
        <p:spPr>
          <a:xfrm>
            <a:off x="658368" y="4343400"/>
            <a:ext cx="1005840" cy="54864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4572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/ EMC  ·  RF  ·  Environmental Testing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" y="49560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compliance &amp; validation facility, Shirdi, Maharashtra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One-Stop Facility for EMI/EMC, RF &amp; Environmental Testing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BRAND BACKED BY A WORLD-CLASS FACILITY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41148"/>
          </a:xfrm>
          <a:prstGeom prst="rect">
            <a:avLst/>
          </a:prstGeom>
          <a:solidFill>
            <a:srgbClr val="1B4C7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84248"/>
            <a:ext cx="475488" cy="47548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/home/claude/work/icons/radio_F2A7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209123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587752"/>
            <a:ext cx="3075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Infrastructure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" y="3063240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to one of India's largest anechoic chambers, equipped with advanced systems addressing a wide range of compliance and validation requirements to international standards.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337304" y="1783080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8472" y="1984248"/>
            <a:ext cx="475488" cy="47548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/home/claude/work/icons/users_F2A71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457" y="209123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6760" y="2587752"/>
            <a:ext cx="3075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Cross-Industry Expertise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56760" y="3063240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supported leading OEMs from diverse industries, delivering reliable testing services and earning consistent customer confidence.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8125968" y="1783080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7136" y="1984248"/>
            <a:ext cx="475488" cy="47548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2" descr="/home/claude/work/icons/headset_F2A71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121" y="209123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45424" y="2587752"/>
            <a:ext cx="3075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Technical Assistance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45424" y="3063240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experienced technical team provides end-to-end support throughout testing, validation and certification, ensuring a seamless customer experience.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48640" y="4187952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389120"/>
            <a:ext cx="475488" cy="47548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2" name="Image 3" descr="/home/claude/work/icons/grad_F2A71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3" y="4496105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8096" y="4992624"/>
            <a:ext cx="3075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Qualified Workforce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68096" y="5468112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Staffed by skilled engineers and technicians, including instructor-level certified professionals who undergo regular assessments and audits.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4337304" y="4187952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38472" y="4389120"/>
            <a:ext cx="475488" cy="47548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7" name="Image 4" descr="/home/claude/work/icons/award_F2A71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457" y="4496105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6760" y="4992624"/>
            <a:ext cx="3075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Trusted Brand Legacy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56760" y="5468112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 of the NIBE Group, a leading Indian defence, automotive and industrial conglomerate, with a reputation for excellence and reliability.</a:t>
            </a:r>
            <a:endParaRPr lang="en-US" sz="980" dirty="0"/>
          </a:p>
        </p:txBody>
      </p:sp>
      <p:sp>
        <p:nvSpPr>
          <p:cNvPr id="30" name="Shape 23"/>
          <p:cNvSpPr/>
          <p:nvPr/>
        </p:nvSpPr>
        <p:spPr>
          <a:xfrm>
            <a:off x="8125968" y="4187952"/>
            <a:ext cx="3514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27136" y="4389120"/>
            <a:ext cx="475488" cy="47548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2" name="Image 5" descr="/home/claude/work/icons/sliders_F2A71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121" y="4496105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45424" y="4992624"/>
            <a:ext cx="3075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 Models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45424" y="5468112"/>
            <a:ext cx="3075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both pre-compliance evaluation and full certification testing, with customizable solutions tailored to requirements, timelines and budget.</a:t>
            </a:r>
            <a:endParaRPr lang="en-US" sz="980" dirty="0"/>
          </a:p>
        </p:txBody>
      </p:sp>
      <p:sp>
        <p:nvSpPr>
          <p:cNvPr id="35" name="Text 27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Best-Equipped EMI/EMC Testing Facilities in India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OVERVIEW</a:t>
            </a:r>
            <a:endParaRPr lang="en-US" sz="1100" dirty="0"/>
          </a:p>
        </p:txBody>
      </p:sp>
      <p:pic>
        <p:nvPicPr>
          <p:cNvPr id="4" name="Image 0" descr="/home/claude/work/icons/check_F2A7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" y="1545336"/>
            <a:ext cx="5276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semi-anechoic chamber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of the largest in India.</a:t>
            </a:r>
            <a:endParaRPr lang="en-US" sz="1150" dirty="0"/>
          </a:p>
        </p:txBody>
      </p:sp>
      <p:pic>
        <p:nvPicPr>
          <p:cNvPr id="6" name="Image 1" descr="/home/claude/work/icons/check_F2A71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9424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" y="2167128"/>
            <a:ext cx="5276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&amp; Susceptibility testing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frequency range from 30 Hz to 40 GHz.</a:t>
            </a:r>
            <a:endParaRPr lang="en-US" sz="1150" dirty="0"/>
          </a:p>
        </p:txBody>
      </p:sp>
      <p:pic>
        <p:nvPicPr>
          <p:cNvPr id="8" name="Image 2" descr="/home/claude/work/icons/check_F2A71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71216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392" y="2788920"/>
            <a:ext cx="5276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Radiated Susceptibility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field strength up to 200 V/m, 10 kHz–40 GHz.</a:t>
            </a:r>
            <a:endParaRPr lang="en-US" sz="1150" dirty="0"/>
          </a:p>
        </p:txBody>
      </p:sp>
      <p:pic>
        <p:nvPicPr>
          <p:cNvPr id="10" name="Image 3" descr="/home/claude/work/icons/check_F2A71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93008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0392" y="3410712"/>
            <a:ext cx="5276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frequency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10 Hz up to 40 GHz.</a:t>
            </a:r>
            <a:endParaRPr lang="en-US" sz="1150" dirty="0"/>
          </a:p>
        </p:txBody>
      </p:sp>
      <p:pic>
        <p:nvPicPr>
          <p:cNvPr id="12" name="Image 4" descr="/home/claude/work/icons/check_F2A71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50392" y="4032504"/>
            <a:ext cx="5276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test facility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complete system / vehicle &amp; sub-system levels.</a:t>
            </a:r>
            <a:endParaRPr lang="en-US" sz="1150" dirty="0"/>
          </a:p>
        </p:txBody>
      </p:sp>
      <p:pic>
        <p:nvPicPr>
          <p:cNvPr id="14" name="Image 5" descr="/home/claude/work/icons/check_F2A71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36592"/>
            <a:ext cx="182880" cy="1828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50392" y="4654296"/>
            <a:ext cx="527608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Scanner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PCB-level EMC testing, pinpointing exact emission components.</a:t>
            </a:r>
            <a:endParaRPr lang="en-US" sz="1150" dirty="0"/>
          </a:p>
        </p:txBody>
      </p:sp>
      <p:sp>
        <p:nvSpPr>
          <p:cNvPr id="16" name="Text 8"/>
          <p:cNvSpPr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TEST AREA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548640" y="5742432"/>
            <a:ext cx="181356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18" name="Text 10"/>
          <p:cNvSpPr/>
          <p:nvPr/>
        </p:nvSpPr>
        <p:spPr>
          <a:xfrm>
            <a:off x="548640" y="5769864"/>
            <a:ext cx="181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32m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48640" y="6144768"/>
            <a:ext cx="181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800" dirty="0"/>
          </a:p>
        </p:txBody>
      </p:sp>
      <p:sp>
        <p:nvSpPr>
          <p:cNvPr id="20" name="Shape 12"/>
          <p:cNvSpPr/>
          <p:nvPr/>
        </p:nvSpPr>
        <p:spPr>
          <a:xfrm>
            <a:off x="2636520" y="5742432"/>
            <a:ext cx="181356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21" name="Text 13"/>
          <p:cNvSpPr/>
          <p:nvPr/>
        </p:nvSpPr>
        <p:spPr>
          <a:xfrm>
            <a:off x="2636520" y="5769864"/>
            <a:ext cx="181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2636520" y="6144768"/>
            <a:ext cx="181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800" dirty="0"/>
          </a:p>
        </p:txBody>
      </p:sp>
      <p:sp>
        <p:nvSpPr>
          <p:cNvPr id="23" name="Shape 15"/>
          <p:cNvSpPr/>
          <p:nvPr/>
        </p:nvSpPr>
        <p:spPr>
          <a:xfrm>
            <a:off x="4724400" y="5742432"/>
            <a:ext cx="181356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24" name="Text 16"/>
          <p:cNvSpPr/>
          <p:nvPr/>
        </p:nvSpPr>
        <p:spPr>
          <a:xfrm>
            <a:off x="4724400" y="5769864"/>
            <a:ext cx="181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12m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4724400" y="6144768"/>
            <a:ext cx="1813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B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800" dirty="0"/>
          </a:p>
        </p:txBody>
      </p:sp>
      <p:pic>
        <p:nvPicPr>
          <p:cNvPr id="26" name="Image 6" descr="/home/claude/work/img/image5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720840" y="502920"/>
            <a:ext cx="4937760" cy="585216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720840" y="502920"/>
            <a:ext cx="4937760" cy="5852160"/>
          </a:xfrm>
          <a:prstGeom prst="rect">
            <a:avLst/>
          </a:prstGeom>
          <a:ln w="12700">
            <a:solidFill>
              <a:srgbClr val="E1E6EC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&amp; Products Addressed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SERVED BY THE SHIRDI TEST FACILITY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112C50"/>
          </a:solidFill>
          <a:ln w="12700">
            <a:solidFill>
              <a:srgbClr val="2B4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9324" y="2395728"/>
            <a:ext cx="731520" cy="7315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6" name="Image 0" descr="/home/claude/work/icons/shield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256032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1868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&amp;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1568" y="210312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112C50"/>
          </a:solidFill>
          <a:ln w="12700">
            <a:solidFill>
              <a:srgbClr val="2B4E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02252" y="2395728"/>
            <a:ext cx="731520" cy="7315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0" name="Image 1" descr="/home/claude/work/icons/car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256032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93008" y="321868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54496" y="210312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112C50"/>
          </a:solidFill>
          <a:ln w="12700">
            <a:solidFill>
              <a:srgbClr val="2B4E7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55180" y="2395728"/>
            <a:ext cx="731520" cy="7315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4" name="Image 2" descr="/home/claude/work/icons/factory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256032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45936" y="321868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9107424" y="210312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112C50"/>
          </a:solidFill>
          <a:ln w="12700">
            <a:solidFill>
              <a:srgbClr val="2B4E7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008108" y="2395728"/>
            <a:ext cx="731520" cy="7315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8" name="Image 3" descr="/home/claude/work/icons/house_0B25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56032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98864" y="321868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1975104" y="434340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112C50"/>
          </a:solidFill>
          <a:ln w="12700">
            <a:solidFill>
              <a:srgbClr val="2B4E7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875788" y="4636008"/>
            <a:ext cx="731520" cy="7315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22" name="Image 4" descr="/home/claude/work/icons/train_0B254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380" y="480060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66544" y="545896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828032" y="434340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112C50"/>
          </a:solidFill>
          <a:ln w="12700">
            <a:solidFill>
              <a:srgbClr val="2B4E7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728716" y="4636008"/>
            <a:ext cx="731520" cy="7315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26" name="Image 5" descr="/home/claude/work/icons/phone_0B254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4800600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19472" y="545896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680960" y="4343400"/>
            <a:ext cx="2532888" cy="1874520"/>
          </a:xfrm>
          <a:prstGeom prst="roundRect">
            <a:avLst>
              <a:gd name="adj" fmla="val 4390"/>
            </a:avLst>
          </a:prstGeom>
          <a:solidFill>
            <a:srgbClr val="112C50"/>
          </a:solidFill>
          <a:ln w="12700">
            <a:solidFill>
              <a:srgbClr val="2B4E7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581644" y="4636008"/>
            <a:ext cx="731520" cy="7315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30" name="Image 6" descr="/home/claude/work/icons/medical_0B254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6236" y="4800600"/>
            <a:ext cx="402336" cy="40233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772400" y="5458968"/>
            <a:ext cx="23500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Largest EMI/EMC Facilities in India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41148"/>
          </a:xfrm>
          <a:prstGeom prst="rect">
            <a:avLst/>
          </a:prstGeom>
          <a:solidFill>
            <a:srgbClr val="F2A71B"/>
          </a:solidFill>
          <a:ln/>
        </p:spPr>
      </p:sp>
      <p:pic>
        <p:nvPicPr>
          <p:cNvPr id="4" name="Image 0" descr="/home/claude/work/img/image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5486400" cy="5074920"/>
          </a:xfrm>
          <a:prstGeom prst="rect">
            <a:avLst/>
          </a:prstGeom>
        </p:spPr>
      </p:pic>
      <p:pic>
        <p:nvPicPr>
          <p:cNvPr id="5" name="Image 1" descr="/home/claude/work/img/image1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325880"/>
            <a:ext cx="5468112" cy="1539240"/>
          </a:xfrm>
          <a:prstGeom prst="rect">
            <a:avLst/>
          </a:prstGeom>
        </p:spPr>
      </p:pic>
      <p:pic>
        <p:nvPicPr>
          <p:cNvPr id="6" name="Image 2" descr="/home/claude/work/img/image1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72200" y="3093720"/>
            <a:ext cx="5468112" cy="1539240"/>
          </a:xfrm>
          <a:prstGeom prst="rect">
            <a:avLst/>
          </a:prstGeom>
        </p:spPr>
      </p:pic>
      <p:pic>
        <p:nvPicPr>
          <p:cNvPr id="7" name="Image 3" descr="/home/claude/work/img/image1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4861560"/>
            <a:ext cx="5468112" cy="15392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3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Testing Across 4 Chambers &amp; Labs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TEST PROGRAMS SIMULTANEOUSLY, WITHOUT QUEUING</a:t>
            </a:r>
            <a:endParaRPr lang="en-US" sz="1100" dirty="0"/>
          </a:p>
        </p:txBody>
      </p:sp>
      <p:pic>
        <p:nvPicPr>
          <p:cNvPr id="4" name="Image 0" descr="/home/claude/work/img/image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2580894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66360"/>
            <a:ext cx="2580894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51663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Lab</a:t>
            </a:r>
            <a:endParaRPr lang="en-US" sz="1150" dirty="0"/>
          </a:p>
        </p:txBody>
      </p:sp>
      <p:pic>
        <p:nvPicPr>
          <p:cNvPr id="7" name="Image 1" descr="/home/claude/work/img/image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5566" y="1508760"/>
            <a:ext cx="2580894" cy="3657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85566" y="5166360"/>
            <a:ext cx="2580894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5"/>
          <p:cNvSpPr/>
          <p:nvPr/>
        </p:nvSpPr>
        <p:spPr>
          <a:xfrm>
            <a:off x="3495294" y="51663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Radiated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Lab</a:t>
            </a:r>
            <a:endParaRPr lang="en-US" sz="1150" dirty="0"/>
          </a:p>
        </p:txBody>
      </p:sp>
      <p:pic>
        <p:nvPicPr>
          <p:cNvPr id="10" name="Image 2" descr="/home/claude/work/img/image1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22492" y="1508760"/>
            <a:ext cx="2580894" cy="3657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22492" y="5166360"/>
            <a:ext cx="2580894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7"/>
          <p:cNvSpPr/>
          <p:nvPr/>
        </p:nvSpPr>
        <p:spPr>
          <a:xfrm>
            <a:off x="6332220" y="51663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Semi-Anechoic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</a:t>
            </a:r>
            <a:endParaRPr lang="en-US" sz="1150" dirty="0"/>
          </a:p>
        </p:txBody>
      </p:sp>
      <p:pic>
        <p:nvPicPr>
          <p:cNvPr id="13" name="Image 3" descr="/home/claude/work/img/image18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9418" y="1508760"/>
            <a:ext cx="2580894" cy="3657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059418" y="5166360"/>
            <a:ext cx="2580894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5" name="Text 9"/>
          <p:cNvSpPr/>
          <p:nvPr/>
        </p:nvSpPr>
        <p:spPr>
          <a:xfrm>
            <a:off x="9169146" y="5166360"/>
            <a:ext cx="23614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Lab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EMC Test Services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41148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6" name="Image 0" descr="/home/claude/wor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650492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41732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Radiated Emission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33172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10" name="Image 1" descr="/home/claude/work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427732"/>
            <a:ext cx="192024" cy="192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19456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Radiated Susceptibility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310896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14" name="Image 2" descr="/home/claude/work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04972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297180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Emission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5800" y="388620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18" name="Image 3" descr="/home/claude/work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982212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7490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Susceptibility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85800" y="466344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22" name="Image 4" descr="/home/claude/work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759452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45262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Flicker &amp; Surge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82512" y="141732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519672" y="155448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26" name="Image 5" descr="/home/claude/work/icon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1650492"/>
            <a:ext cx="192024" cy="1920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141732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Electrostatic Discharge (ESD)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382512" y="219456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519672" y="233172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30" name="Image 6" descr="/home/claude/work/icons/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684" y="2427732"/>
            <a:ext cx="192024" cy="1920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40880" y="219456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Dips &amp; Interruption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382512" y="297180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519672" y="310896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34" name="Image 7" descr="/home/claude/work/icons/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684" y="3204972"/>
            <a:ext cx="192024" cy="19202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297180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Current Emission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6382512" y="374904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519672" y="388620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38" name="Image 8" descr="/home/claude/work/icons/check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684" y="3982212"/>
            <a:ext cx="192024" cy="19202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040880" y="374904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Frequency Magnetic Field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6382512" y="452628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519672" y="4663440"/>
            <a:ext cx="384048" cy="384048"/>
          </a:xfrm>
          <a:prstGeom prst="ellipse">
            <a:avLst/>
          </a:prstGeom>
          <a:solidFill>
            <a:srgbClr val="1B4C7A"/>
          </a:solidFill>
          <a:ln/>
        </p:spPr>
      </p:sp>
      <p:pic>
        <p:nvPicPr>
          <p:cNvPr id="42" name="Image 9" descr="/home/claude/work/icons/check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5684" y="4759452"/>
            <a:ext cx="192024" cy="19202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40880" y="45262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Fast Transient</a:t>
            </a:r>
            <a:endParaRPr lang="en-US" sz="1250" dirty="0"/>
          </a:p>
        </p:txBody>
      </p:sp>
      <p:sp>
        <p:nvSpPr>
          <p:cNvPr id="44" name="Shape 3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</p:sp>
      <p:sp>
        <p:nvSpPr>
          <p:cNvPr id="45" name="Text 33"/>
          <p:cNvSpPr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SOLUTION SUPPORT FOR EMC PER-COMPLIANCE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685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371600"/>
            <a:ext cx="914400" cy="54864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technical assistance throughout testing, validation and certification — delivered by an experienced team committed to a seamless customer experience.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7" name="Image 0" descr="/home/claude/work/icons/monitor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517" y="335927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246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Test Witness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3904488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0" name="Image 1" descr="/home/claude/work/icons/wrench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7" y="4017645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9044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Trouble-Shooting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4562856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3" name="Image 2" descr="/home/claude/work/icons/message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17" y="4676013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5628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Consulting Services</a:t>
            </a:r>
            <a:endParaRPr lang="en-US" sz="1200" dirty="0"/>
          </a:p>
        </p:txBody>
      </p:sp>
      <p:pic>
        <p:nvPicPr>
          <p:cNvPr id="15" name="Image 3" descr="/home/claude/work/img/image1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0" y="822960"/>
            <a:ext cx="6611112" cy="27523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29200" y="3931920"/>
            <a:ext cx="661111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349240" y="4160520"/>
            <a:ext cx="5989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challenge, our engineers work alongside your team — from first pre-compliance scan to final certification sign-off — so testing never becomes the bottleneck in your product programme.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Test Service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41148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6" name="Image 0" descr="/home/claude/work/icons/waves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7590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45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Tests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505456"/>
            <a:ext cx="82296" cy="82296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2926080"/>
            <a:ext cx="82296" cy="82296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284378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346704"/>
            <a:ext cx="82296" cy="82296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264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3767328"/>
            <a:ext cx="82296" cy="82296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36850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4187952"/>
            <a:ext cx="82296" cy="82296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10565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24528" y="137160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44568" y="164592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0" name="Image 1" descr="/home/claude/work/icons/thermo_F2A71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759077"/>
            <a:ext cx="276606" cy="27660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84648" y="1645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Climatic Tests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44568" y="2459736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23" name="Text 19"/>
          <p:cNvSpPr/>
          <p:nvPr/>
        </p:nvSpPr>
        <p:spPr>
          <a:xfrm>
            <a:off x="4773168" y="2377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Test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44568" y="2843784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25" name="Text 21"/>
          <p:cNvSpPr/>
          <p:nvPr/>
        </p:nvSpPr>
        <p:spPr>
          <a:xfrm>
            <a:off x="4773168" y="276148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Test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544568" y="3227832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27" name="Text 23"/>
          <p:cNvSpPr/>
          <p:nvPr/>
        </p:nvSpPr>
        <p:spPr>
          <a:xfrm>
            <a:off x="4773168" y="314553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Heat / Humidity Test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544568" y="3611880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29" name="Text 25"/>
          <p:cNvSpPr/>
          <p:nvPr/>
        </p:nvSpPr>
        <p:spPr>
          <a:xfrm>
            <a:off x="4773168" y="352958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Test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544568" y="3995928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31" name="Text 27"/>
          <p:cNvSpPr/>
          <p:nvPr/>
        </p:nvSpPr>
        <p:spPr>
          <a:xfrm>
            <a:off x="4773168" y="391363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Cycling Test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544568" y="4379976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33" name="Text 29"/>
          <p:cNvSpPr/>
          <p:nvPr/>
        </p:nvSpPr>
        <p:spPr>
          <a:xfrm>
            <a:off x="4773168" y="4297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Shock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4544568" y="4764024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35" name="Text 31"/>
          <p:cNvSpPr/>
          <p:nvPr/>
        </p:nvSpPr>
        <p:spPr>
          <a:xfrm>
            <a:off x="4773168" y="468172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Test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4544568" y="5148072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37" name="Text 33"/>
          <p:cNvSpPr/>
          <p:nvPr/>
        </p:nvSpPr>
        <p:spPr>
          <a:xfrm>
            <a:off x="4773168" y="5065776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Test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4544568" y="5532120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39" name="Text 35"/>
          <p:cNvSpPr/>
          <p:nvPr/>
        </p:nvSpPr>
        <p:spPr>
          <a:xfrm>
            <a:off x="4773168" y="54498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Corrosion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4544568" y="5916168"/>
            <a:ext cx="82296" cy="82296"/>
          </a:xfrm>
          <a:prstGeom prst="ellipse">
            <a:avLst/>
          </a:prstGeom>
          <a:solidFill>
            <a:srgbClr val="1B4C7A"/>
          </a:solidFill>
          <a:ln/>
        </p:spPr>
      </p:sp>
      <p:sp>
        <p:nvSpPr>
          <p:cNvPr id="41" name="Text 37"/>
          <p:cNvSpPr/>
          <p:nvPr/>
        </p:nvSpPr>
        <p:spPr>
          <a:xfrm>
            <a:off x="4773168" y="583387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Tropical Exposure</a:t>
            </a:r>
            <a:endParaRPr lang="en-US" sz="1150" dirty="0"/>
          </a:p>
        </p:txBody>
      </p:sp>
      <p:pic>
        <p:nvPicPr>
          <p:cNvPr id="42" name="Image 2" descr="/home/claude/work/img/image2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36992" y="1371600"/>
            <a:ext cx="3703320" cy="2377440"/>
          </a:xfrm>
          <a:prstGeom prst="rect">
            <a:avLst/>
          </a:prstGeom>
        </p:spPr>
      </p:pic>
      <p:pic>
        <p:nvPicPr>
          <p:cNvPr id="43" name="Image 3" descr="/home/claude/work/img/image2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36992" y="3931920"/>
            <a:ext cx="3703320" cy="237744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Tests — Vibration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41148"/>
          </a:xfrm>
          <a:prstGeom prst="rect">
            <a:avLst/>
          </a:prstGeom>
          <a:solidFill>
            <a:srgbClr val="F2A71B"/>
          </a:solidFill>
          <a:ln/>
        </p:spPr>
      </p:sp>
      <p:pic>
        <p:nvPicPr>
          <p:cNvPr id="4" name="Image 0" descr="/home/claude/work/img/image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57784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6" name="Shape 3"/>
          <p:cNvSpPr/>
          <p:nvPr/>
        </p:nvSpPr>
        <p:spPr>
          <a:xfrm>
            <a:off x="6656832" y="1719072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7" name="Image 1" descr="/home/claude/work/icons/gauge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989" y="1832229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0" y="1719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0" y="20574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 KGF with 75mm displacement, 2m/s velocity and 90g acceleration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0" y="3127248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</p:sp>
      <p:sp>
        <p:nvSpPr>
          <p:cNvPr id="11" name="Shape 7"/>
          <p:cNvSpPr/>
          <p:nvPr/>
        </p:nvSpPr>
        <p:spPr>
          <a:xfrm>
            <a:off x="6656832" y="3383280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2" name="Image 2" descr="/home/claude/work/icons/ruler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989" y="3496437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315200" y="372160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to 3000 Hz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4425696"/>
            <a:ext cx="5239512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</p:sp>
      <p:sp>
        <p:nvSpPr>
          <p:cNvPr id="16" name="Shape 11"/>
          <p:cNvSpPr/>
          <p:nvPr/>
        </p:nvSpPr>
        <p:spPr>
          <a:xfrm>
            <a:off x="6656832" y="4681728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7" name="Image 3" descr="/home/claude/work/icons/sliders_0B25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989" y="4794885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46817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PROFILES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315200" y="502005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Sine, Random, Shock, RSTD, Recalibration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Climatic Test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41148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19072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6" name="Image 0" descr="/home/claude/work/icons/gauge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183222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RATE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25°C/min &amp; complies with ESS methods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3044952"/>
            <a:ext cx="502920" cy="502920"/>
          </a:xfrm>
          <a:prstGeom prst="ellipse">
            <a:avLst/>
          </a:prstGeom>
          <a:solidFill>
            <a:srgbClr val="F2A71B"/>
          </a:solidFill>
          <a:ln/>
        </p:spPr>
      </p:sp>
      <p:pic>
        <p:nvPicPr>
          <p:cNvPr id="11" name="Image 1" descr="/home/claude/work/icons/ruler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829" y="315810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463040" y="335584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litres, plus walk-in chamber of 2m³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4206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TEST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5720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4C7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45720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728216" y="45720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4C7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728216" y="45720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999232" y="457200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4C7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99232" y="45720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Heat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48640" y="5029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4C7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50292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Cycling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093976" y="50292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4C7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093976" y="50292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Shock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730752" y="50292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B4C7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30752" y="50292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</a:t>
            </a:r>
            <a:endParaRPr lang="en-US" sz="1050" dirty="0"/>
          </a:p>
        </p:txBody>
      </p:sp>
      <p:pic>
        <p:nvPicPr>
          <p:cNvPr id="27" name="Image 2" descr="/home/claude/work/img/image2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89320" y="1463040"/>
            <a:ext cx="2606040" cy="4937760"/>
          </a:xfrm>
          <a:prstGeom prst="rect">
            <a:avLst/>
          </a:prstGeom>
        </p:spPr>
      </p:pic>
      <p:pic>
        <p:nvPicPr>
          <p:cNvPr id="28" name="Image 3" descr="/home/claude/work/img/image2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86800" y="1463040"/>
            <a:ext cx="2953512" cy="4937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Labs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822960" cy="41148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5" name="Image 0" descr="/home/claude/work/icons/zap_F2A7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6322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904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Lab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18288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Electrostatic discharge testing for boards and full systems.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9" name="Image 1" descr="/home/claude/work/icons/cable_F2A71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80263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609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Harness Assembly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29992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cable and harness build for test setups.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2" descr="/home/claude/work/icons/flask_F2A71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973068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313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— Engineering Center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1696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support and engineering development.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7" name="Image 3" descr="/home/claude/work/icons/package_F2A71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5143500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50017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Store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80160" y="534009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inventory for parts and consumables.</a:t>
            </a:r>
            <a:endParaRPr lang="en-US" sz="1100" dirty="0"/>
          </a:p>
        </p:txBody>
      </p:sp>
      <p:pic>
        <p:nvPicPr>
          <p:cNvPr id="20" name="Image 4" descr="/home/claude/work/img/image29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72200" y="1508760"/>
            <a:ext cx="5486400" cy="2651760"/>
          </a:xfrm>
          <a:prstGeom prst="rect">
            <a:avLst/>
          </a:prstGeom>
        </p:spPr>
      </p:pic>
      <p:pic>
        <p:nvPicPr>
          <p:cNvPr id="21" name="Image 5" descr="/home/claude/work/img/image2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72200" y="4343400"/>
            <a:ext cx="1706880" cy="1965960"/>
          </a:xfrm>
          <a:prstGeom prst="rect">
            <a:avLst/>
          </a:prstGeom>
        </p:spPr>
      </p:pic>
      <p:pic>
        <p:nvPicPr>
          <p:cNvPr id="22" name="Image 6" descr="/home/claude/work/img/image27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061960" y="4343400"/>
            <a:ext cx="1706880" cy="1965960"/>
          </a:xfrm>
          <a:prstGeom prst="rect">
            <a:avLst/>
          </a:prstGeom>
        </p:spPr>
      </p:pic>
      <p:pic>
        <p:nvPicPr>
          <p:cNvPr id="23" name="Image 7" descr="/home/claude/work/img/image28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951720" y="4343400"/>
            <a:ext cx="1706880" cy="19659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14757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Text 15"/>
          <p:cNvSpPr/>
          <p:nvPr/>
        </p:nvSpPr>
        <p:spPr>
          <a:xfrm>
            <a:off x="54864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NIBE LIMITED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2026-07-28T07:38:24Z</dcterms:created>
  <dcterms:modified xsi:type="dcterms:W3CDTF">2026-07-28T07:38:24Z</dcterms:modified>
</cp:coreProperties>
</file>